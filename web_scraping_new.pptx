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2" roundtripDataSignature="AMtx7mjOZhxGNAXa5EQEm5HEJ/fdAYKd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customschemas.google.com/relationships/presentationmetadata" Target="metadata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24.png"/><Relationship Id="rId5" Type="http://schemas.openxmlformats.org/officeDocument/2006/relationships/image" Target="../media/image9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12.png"/><Relationship Id="rId6" Type="http://schemas.openxmlformats.org/officeDocument/2006/relationships/image" Target="../media/image18.png"/><Relationship Id="rId7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9.png"/><Relationship Id="rId5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Relationship Id="rId4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Relationship Id="rId4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8.png"/><Relationship Id="rId4" Type="http://schemas.openxmlformats.org/officeDocument/2006/relationships/image" Target="../media/image3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9.png"/><Relationship Id="rId4" Type="http://schemas.openxmlformats.org/officeDocument/2006/relationships/image" Target="../media/image36.png"/><Relationship Id="rId5" Type="http://schemas.openxmlformats.org/officeDocument/2006/relationships/image" Target="../media/image3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3.png"/><Relationship Id="rId4" Type="http://schemas.openxmlformats.org/officeDocument/2006/relationships/image" Target="../media/image5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9.png"/><Relationship Id="rId4" Type="http://schemas.openxmlformats.org/officeDocument/2006/relationships/image" Target="../media/image4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6.png"/><Relationship Id="rId4" Type="http://schemas.openxmlformats.org/officeDocument/2006/relationships/image" Target="../media/image5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7.png"/><Relationship Id="rId4" Type="http://schemas.openxmlformats.org/officeDocument/2006/relationships/image" Target="../media/image41.png"/><Relationship Id="rId5" Type="http://schemas.openxmlformats.org/officeDocument/2006/relationships/image" Target="../media/image5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://homework.md" TargetMode="External"/><Relationship Id="rId4" Type="http://schemas.openxmlformats.org/officeDocument/2006/relationships/hyperlink" Target="https://github.com/Arshiyakhias/python_workshop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 txBox="1"/>
          <p:nvPr/>
        </p:nvSpPr>
        <p:spPr>
          <a:xfrm>
            <a:off x="822960" y="128016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$ python -m pip install requests beautifulsoup4 pandas playwright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777240" y="265176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WEB SCRAPING WITH PYTHON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22960" y="4160520"/>
            <a:ext cx="128016" cy="237744"/>
          </a:xfrm>
          <a:prstGeom prst="rect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 txBox="1"/>
          <p:nvPr/>
        </p:nvSpPr>
        <p:spPr>
          <a:xfrm>
            <a:off x="1097280" y="4114800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FOUNDATIONS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3931920" y="4114800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slides 1–7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22960" y="4489704"/>
            <a:ext cx="128016" cy="237744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 txBox="1"/>
          <p:nvPr/>
        </p:nvSpPr>
        <p:spPr>
          <a:xfrm>
            <a:off x="1097280" y="4443984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HTML &amp; THE WEB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3931920" y="4443984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slides 8–13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822960" y="4818888"/>
            <a:ext cx="128016" cy="237744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 txBox="1"/>
          <p:nvPr/>
        </p:nvSpPr>
        <p:spPr>
          <a:xfrm>
            <a:off x="1097280" y="4773168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REQUESTS &amp; HTTP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3931920" y="4773168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slides 14–18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822960" y="5148072"/>
            <a:ext cx="128016" cy="237744"/>
          </a:xfrm>
          <a:prstGeom prst="rect">
            <a:avLst/>
          </a:prstGeom>
          <a:solidFill>
            <a:srgbClr val="F778BA"/>
          </a:solidFill>
          <a:ln cap="flat" cmpd="sng" w="12700">
            <a:solidFill>
              <a:srgbClr val="F778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1097280" y="5102352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BEAUTIFULSOUP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 txBox="1"/>
          <p:nvPr/>
        </p:nvSpPr>
        <p:spPr>
          <a:xfrm>
            <a:off x="3931920" y="5102352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slides 19–29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822960" y="5477256"/>
            <a:ext cx="128016" cy="237744"/>
          </a:xfrm>
          <a:prstGeom prst="rect">
            <a:avLst/>
          </a:prstGeom>
          <a:solidFill>
            <a:srgbClr val="A371F7"/>
          </a:solidFill>
          <a:ln cap="flat" cmpd="sng" w="12700">
            <a:solidFill>
              <a:srgbClr val="A37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 txBox="1"/>
          <p:nvPr/>
        </p:nvSpPr>
        <p:spPr>
          <a:xfrm>
            <a:off x="1097280" y="5431536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PANDAS &amp;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 txBox="1"/>
          <p:nvPr/>
        </p:nvSpPr>
        <p:spPr>
          <a:xfrm>
            <a:off x="3931920" y="5431536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slides 30–32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822960" y="5806440"/>
            <a:ext cx="128016" cy="237744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 txBox="1"/>
          <p:nvPr/>
        </p:nvSpPr>
        <p:spPr>
          <a:xfrm>
            <a:off x="1097280" y="5760720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SCALING 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 txBox="1"/>
          <p:nvPr/>
        </p:nvSpPr>
        <p:spPr>
          <a:xfrm>
            <a:off x="3931920" y="5760720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slides 33–36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"/>
          <p:cNvSpPr/>
          <p:nvPr/>
        </p:nvSpPr>
        <p:spPr>
          <a:xfrm>
            <a:off x="640080" y="457200"/>
            <a:ext cx="2377440" cy="329184"/>
          </a:xfrm>
          <a:prstGeom prst="roundRect">
            <a:avLst>
              <a:gd fmla="val 138889" name="adj"/>
            </a:avLst>
          </a:prstGeom>
          <a:solidFill>
            <a:srgbClr val="161B22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 txBox="1"/>
          <p:nvPr/>
        </p:nvSpPr>
        <p:spPr>
          <a:xfrm>
            <a:off x="640080" y="45720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9D353"/>
                </a:solidFill>
                <a:latin typeface="Calibri"/>
                <a:ea typeface="Calibri"/>
                <a:cs typeface="Calibri"/>
                <a:sym typeface="Calibri"/>
              </a:rPr>
              <a:t>FOUNDATIONS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10332720" y="4572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0363D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640080" y="9601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Introduction to Web Scraping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40080" y="1874520"/>
            <a:ext cx="1005840" cy="45720"/>
          </a:xfrm>
          <a:prstGeom prst="rect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 txBox="1"/>
          <p:nvPr/>
        </p:nvSpPr>
        <p:spPr>
          <a:xfrm>
            <a:off x="685800" y="2194560"/>
            <a:ext cx="10332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Automatically extracting data from websites instead of copying it by hand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Turns unstructured web pages into structured, usable data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Powers price trackers, search engines, research datasets, and LLM training corpora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 / 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8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9425" y="3601025"/>
            <a:ext cx="3703750" cy="259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1850" y="3601025"/>
            <a:ext cx="4842007" cy="2598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" name="Google Shape;50;p2"/>
          <p:cNvCxnSpPr>
            <a:stCxn id="48" idx="3"/>
            <a:endCxn id="49" idx="1"/>
          </p:cNvCxnSpPr>
          <p:nvPr/>
        </p:nvCxnSpPr>
        <p:spPr>
          <a:xfrm>
            <a:off x="4733175" y="4900100"/>
            <a:ext cx="156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640080" y="457200"/>
            <a:ext cx="2377440" cy="329184"/>
          </a:xfrm>
          <a:prstGeom prst="roundRect">
            <a:avLst>
              <a:gd fmla="val 138889" name="adj"/>
            </a:avLst>
          </a:prstGeom>
          <a:solidFill>
            <a:srgbClr val="161B22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 txBox="1"/>
          <p:nvPr/>
        </p:nvSpPr>
        <p:spPr>
          <a:xfrm>
            <a:off x="640080" y="45720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9D353"/>
                </a:solidFill>
                <a:latin typeface="Calibri"/>
                <a:ea typeface="Calibri"/>
                <a:cs typeface="Calibri"/>
                <a:sym typeface="Calibri"/>
              </a:rPr>
              <a:t>FOUNDATIONS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 txBox="1"/>
          <p:nvPr/>
        </p:nvSpPr>
        <p:spPr>
          <a:xfrm>
            <a:off x="10332720" y="4572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0363D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 txBox="1"/>
          <p:nvPr/>
        </p:nvSpPr>
        <p:spPr>
          <a:xfrm>
            <a:off x="640080" y="9601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Structured vs Unstructured Data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640080" y="1874520"/>
            <a:ext cx="1005840" cy="45720"/>
          </a:xfrm>
          <a:prstGeom prst="rect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 txBox="1"/>
          <p:nvPr/>
        </p:nvSpPr>
        <p:spPr>
          <a:xfrm>
            <a:off x="685800" y="2194560"/>
            <a:ext cx="10332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Structured: rows &amp; columns - spreadsheets, databases, CSVs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Unstructured: free-form - a webpage's HTML, images, paragraphs of text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Web scraping's whole job: pull structure out of unstructured HTML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2 / 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5925" y="3383900"/>
            <a:ext cx="2959251" cy="2959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35075" y="3383900"/>
            <a:ext cx="2959250" cy="295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/>
          <p:nvPr/>
        </p:nvSpPr>
        <p:spPr>
          <a:xfrm>
            <a:off x="640080" y="457200"/>
            <a:ext cx="2377440" cy="329184"/>
          </a:xfrm>
          <a:prstGeom prst="roundRect">
            <a:avLst>
              <a:gd fmla="val 138889" name="adj"/>
            </a:avLst>
          </a:prstGeom>
          <a:solidFill>
            <a:srgbClr val="161B22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 txBox="1"/>
          <p:nvPr/>
        </p:nvSpPr>
        <p:spPr>
          <a:xfrm>
            <a:off x="640080" y="45720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9D353"/>
                </a:solidFill>
                <a:latin typeface="Calibri"/>
                <a:ea typeface="Calibri"/>
                <a:cs typeface="Calibri"/>
                <a:sym typeface="Calibri"/>
              </a:rPr>
              <a:t>FOUNDATIONS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 txBox="1"/>
          <p:nvPr/>
        </p:nvSpPr>
        <p:spPr>
          <a:xfrm>
            <a:off x="10332720" y="4572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0363D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 txBox="1"/>
          <p:nvPr/>
        </p:nvSpPr>
        <p:spPr>
          <a:xfrm>
            <a:off x="640080" y="9601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Real-World Applications of Web Scraping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640080" y="1874520"/>
            <a:ext cx="1005840" cy="45720"/>
          </a:xfrm>
          <a:prstGeom prst="rect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 txBox="1"/>
          <p:nvPr/>
        </p:nvSpPr>
        <p:spPr>
          <a:xfrm>
            <a:off x="685800" y="2194560"/>
            <a:ext cx="10332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Price comparison &amp; retail aggregators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Job boards (Indeed and similar pull listings from thousands of sites)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Research &amp; citation datasets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Most LLM training data started as scraped web text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3 / 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" name="Google Shape;7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687" y="3892124"/>
            <a:ext cx="2274225" cy="227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6800" y="3892125"/>
            <a:ext cx="2377450" cy="227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67625" y="3892125"/>
            <a:ext cx="2377449" cy="2377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4"/>
          <p:cNvPicPr preferRelativeResize="0"/>
          <p:nvPr/>
        </p:nvPicPr>
        <p:blipFill rotWithShape="1">
          <a:blip r:embed="rId6">
            <a:alphaModFix/>
          </a:blip>
          <a:srcRect b="8826" l="0" r="0" t="0"/>
          <a:stretch/>
        </p:blipFill>
        <p:spPr>
          <a:xfrm>
            <a:off x="8770625" y="3892125"/>
            <a:ext cx="2476500" cy="227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/>
          <p:nvPr/>
        </p:nvSpPr>
        <p:spPr>
          <a:xfrm>
            <a:off x="640080" y="457200"/>
            <a:ext cx="2377440" cy="329184"/>
          </a:xfrm>
          <a:prstGeom prst="roundRect">
            <a:avLst>
              <a:gd fmla="val 138889" name="adj"/>
            </a:avLst>
          </a:prstGeom>
          <a:solidFill>
            <a:srgbClr val="161B22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 txBox="1"/>
          <p:nvPr/>
        </p:nvSpPr>
        <p:spPr>
          <a:xfrm>
            <a:off x="640080" y="45720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9D353"/>
                </a:solidFill>
                <a:latin typeface="Calibri"/>
                <a:ea typeface="Calibri"/>
                <a:cs typeface="Calibri"/>
                <a:sym typeface="Calibri"/>
              </a:rPr>
              <a:t>FOUNDATIONS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10332720" y="4572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0363D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640080" y="9601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Web Crawler vs Web Scraper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40080" y="1874520"/>
            <a:ext cx="1005840" cy="45720"/>
          </a:xfrm>
          <a:prstGeom prst="rect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 txBox="1"/>
          <p:nvPr/>
        </p:nvSpPr>
        <p:spPr>
          <a:xfrm>
            <a:off x="685800" y="2194560"/>
            <a:ext cx="10332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Crawler: discovers and follows links across a site or the whole web (breadth)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Scraper: extracts specific data from pages it already has (depth)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Google's crawler indexes the web; a scraper you write extracts one dataset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Real systems often combine both: crawl to find pages, then scrape each one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4 / 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0749" y="3766876"/>
            <a:ext cx="2524850" cy="252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76145" y="3766875"/>
            <a:ext cx="2524850" cy="252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/>
          <p:nvPr/>
        </p:nvSpPr>
        <p:spPr>
          <a:xfrm>
            <a:off x="640080" y="457200"/>
            <a:ext cx="2377440" cy="329184"/>
          </a:xfrm>
          <a:prstGeom prst="roundRect">
            <a:avLst>
              <a:gd fmla="val 138889" name="adj"/>
            </a:avLst>
          </a:prstGeom>
          <a:solidFill>
            <a:srgbClr val="161B22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 txBox="1"/>
          <p:nvPr/>
        </p:nvSpPr>
        <p:spPr>
          <a:xfrm>
            <a:off x="640080" y="45720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9D353"/>
                </a:solidFill>
                <a:latin typeface="Calibri"/>
                <a:ea typeface="Calibri"/>
                <a:cs typeface="Calibri"/>
                <a:sym typeface="Calibri"/>
              </a:rPr>
              <a:t>FOUNDATIONS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10332720" y="4572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0363D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 txBox="1"/>
          <p:nvPr/>
        </p:nvSpPr>
        <p:spPr>
          <a:xfrm>
            <a:off x="640080" y="9601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How Web Scraping Works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640080" y="1874520"/>
            <a:ext cx="1005840" cy="45720"/>
          </a:xfrm>
          <a:prstGeom prst="rect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 txBox="1"/>
          <p:nvPr/>
        </p:nvSpPr>
        <p:spPr>
          <a:xfrm>
            <a:off x="685800" y="2194560"/>
            <a:ext cx="10332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1. Send an HTTP request to a URL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2. Receive the HTML response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3. Parse the HTML into a navigable structure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4. Locate the elements you need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5. Extract and structure the data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6. Store or export it (CSV, JSON, a database)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5 / 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9225" y="1328475"/>
            <a:ext cx="1654351" cy="1654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19661" y="1378623"/>
            <a:ext cx="1554050" cy="155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6"/>
          <p:cNvPicPr preferRelativeResize="0"/>
          <p:nvPr/>
        </p:nvPicPr>
        <p:blipFill rotWithShape="1">
          <a:blip r:embed="rId5">
            <a:alphaModFix/>
          </a:blip>
          <a:srcRect b="12770" l="0" r="0" t="0"/>
          <a:stretch/>
        </p:blipFill>
        <p:spPr>
          <a:xfrm>
            <a:off x="10008475" y="1378625"/>
            <a:ext cx="1654350" cy="155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20950" y="3512500"/>
            <a:ext cx="1554050" cy="1673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976598" y="3522123"/>
            <a:ext cx="1654350" cy="165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/>
          <p:nvPr/>
        </p:nvSpPr>
        <p:spPr>
          <a:xfrm>
            <a:off x="640080" y="457200"/>
            <a:ext cx="2377440" cy="329184"/>
          </a:xfrm>
          <a:prstGeom prst="roundRect">
            <a:avLst>
              <a:gd fmla="val 138889" name="adj"/>
            </a:avLst>
          </a:prstGeom>
          <a:solidFill>
            <a:srgbClr val="161B22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 txBox="1"/>
          <p:nvPr/>
        </p:nvSpPr>
        <p:spPr>
          <a:xfrm>
            <a:off x="640080" y="45720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9D353"/>
                </a:solidFill>
                <a:latin typeface="Calibri"/>
                <a:ea typeface="Calibri"/>
                <a:cs typeface="Calibri"/>
                <a:sym typeface="Calibri"/>
              </a:rPr>
              <a:t>FOUNDATIONS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10332720" y="4572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0363D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640080" y="9601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Types of Web Scrapers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640080" y="1874520"/>
            <a:ext cx="1005840" cy="45720"/>
          </a:xfrm>
          <a:prstGeom prst="rect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 txBox="1"/>
          <p:nvPr/>
        </p:nvSpPr>
        <p:spPr>
          <a:xfrm>
            <a:off x="685800" y="2194560"/>
            <a:ext cx="10332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Manual copy-paste - not really scraping, doesn't scale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Browser-extension scrapers - point-and-click, limited flexibility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Code-based scrapers (Python) - flexible, scalable, fully customizable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Headless-browser scrapers (Playwright/Selenium) - for JavaScript-heavy sites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Large-scale frameworks (Scrapy) - for production crawling at scale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6 / 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00" y="4394550"/>
            <a:ext cx="1457600" cy="14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8399" y="4394537"/>
            <a:ext cx="1457600" cy="1457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70988" y="4394550"/>
            <a:ext cx="1564325" cy="14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36350" y="4394549"/>
            <a:ext cx="1620525" cy="14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880950" y="4394538"/>
            <a:ext cx="1457600" cy="14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/>
          <p:nvPr/>
        </p:nvSpPr>
        <p:spPr>
          <a:xfrm>
            <a:off x="640080" y="457200"/>
            <a:ext cx="2377440" cy="329184"/>
          </a:xfrm>
          <a:prstGeom prst="roundRect">
            <a:avLst>
              <a:gd fmla="val 138889" name="adj"/>
            </a:avLst>
          </a:prstGeom>
          <a:solidFill>
            <a:srgbClr val="161B22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 txBox="1"/>
          <p:nvPr/>
        </p:nvSpPr>
        <p:spPr>
          <a:xfrm>
            <a:off x="640080" y="45720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9D353"/>
                </a:solidFill>
                <a:latin typeface="Calibri"/>
                <a:ea typeface="Calibri"/>
                <a:cs typeface="Calibri"/>
                <a:sym typeface="Calibri"/>
              </a:rPr>
              <a:t>FOUNDATIONS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10332720" y="4572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0363D"/>
                </a:solidFill>
                <a:latin typeface="Cambria"/>
                <a:ea typeface="Cambria"/>
                <a:cs typeface="Cambria"/>
                <a:sym typeface="Cambria"/>
              </a:rPr>
              <a:t>07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640080" y="9601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Web Scraping Tools in Python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640080" y="1874520"/>
            <a:ext cx="1005840" cy="45720"/>
          </a:xfrm>
          <a:prstGeom prst="rect">
            <a:avLst/>
          </a:prstGeom>
          <a:solidFill>
            <a:srgbClr val="39D353"/>
          </a:solidFill>
          <a:ln cap="flat" cmpd="sng" w="12700">
            <a:solidFill>
              <a:srgbClr val="39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 txBox="1"/>
          <p:nvPr/>
        </p:nvSpPr>
        <p:spPr>
          <a:xfrm>
            <a:off x="685800" y="2194560"/>
            <a:ext cx="10332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requests - fetch pages over HTTP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BeautifulSoup - parse and search HTML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pandas - structure and export scraped data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Playwright / Selenium - handle JavaScript-rendered pages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Scrapy - a full framework for large, production-scale crawls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7 / 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1850" y="4793250"/>
            <a:ext cx="2847274" cy="122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3826" y="4722050"/>
            <a:ext cx="2847275" cy="122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6606" y="4321119"/>
            <a:ext cx="2171100" cy="217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/>
          <p:nvPr/>
        </p:nvSpPr>
        <p:spPr>
          <a:xfrm>
            <a:off x="640080" y="457200"/>
            <a:ext cx="2377440" cy="329184"/>
          </a:xfrm>
          <a:prstGeom prst="roundRect">
            <a:avLst>
              <a:gd fmla="val 138889" name="adj"/>
            </a:avLst>
          </a:prstGeom>
          <a:solidFill>
            <a:srgbClr val="161B22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"/>
          <p:cNvSpPr txBox="1"/>
          <p:nvPr/>
        </p:nvSpPr>
        <p:spPr>
          <a:xfrm>
            <a:off x="640080" y="45720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HTML &amp; THE WEB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10332720" y="4572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0363D"/>
                </a:solidFill>
                <a:latin typeface="Cambria"/>
                <a:ea typeface="Cambria"/>
                <a:cs typeface="Cambria"/>
                <a:sym typeface="Cambria"/>
              </a:rPr>
              <a:t>08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640080" y="9601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Introduction to HTML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640080" y="1874520"/>
            <a:ext cx="1005840" cy="45720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/>
          <p:cNvSpPr txBox="1"/>
          <p:nvPr/>
        </p:nvSpPr>
        <p:spPr>
          <a:xfrm>
            <a:off x="685800" y="2194560"/>
            <a:ext cx="10332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HTML is the structure - the skeleton - of every webpage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Built from nested elements called tags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Browsers render HTML into what you see; scrapers read the HTML directly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8 / 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0150" y="3501575"/>
            <a:ext cx="4295776" cy="2863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/>
          <p:nvPr/>
        </p:nvSpPr>
        <p:spPr>
          <a:xfrm>
            <a:off x="640080" y="457200"/>
            <a:ext cx="2377440" cy="329184"/>
          </a:xfrm>
          <a:prstGeom prst="roundRect">
            <a:avLst>
              <a:gd fmla="val 138889" name="adj"/>
            </a:avLst>
          </a:prstGeom>
          <a:solidFill>
            <a:srgbClr val="161B22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"/>
          <p:cNvSpPr txBox="1"/>
          <p:nvPr/>
        </p:nvSpPr>
        <p:spPr>
          <a:xfrm>
            <a:off x="640080" y="45720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HTML &amp; THE WEB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 txBox="1"/>
          <p:nvPr/>
        </p:nvSpPr>
        <p:spPr>
          <a:xfrm>
            <a:off x="10332720" y="4572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0363D"/>
                </a:solidFill>
                <a:latin typeface="Cambria"/>
                <a:ea typeface="Cambria"/>
                <a:cs typeface="Cambria"/>
                <a:sym typeface="Cambria"/>
              </a:rPr>
              <a:t>09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 txBox="1"/>
          <p:nvPr/>
        </p:nvSpPr>
        <p:spPr>
          <a:xfrm>
            <a:off x="640080" y="9601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HTML Tags and Attributes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640080" y="1874520"/>
            <a:ext cx="1005840" cy="45720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"/>
          <p:cNvSpPr txBox="1"/>
          <p:nvPr/>
        </p:nvSpPr>
        <p:spPr>
          <a:xfrm>
            <a:off x="685800" y="2194560"/>
            <a:ext cx="103326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Tag: &lt;h1&gt;, &lt;p&gt;, &lt;a&gt;, &lt;div&gt; - defines an element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Attribute: extra info inside a tag - class, id, href, src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Attributes are usually exactly what you target when scraping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9 / 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 txBox="1"/>
          <p:nvPr/>
        </p:nvSpPr>
        <p:spPr>
          <a:xfrm>
            <a:off x="2299013" y="3940650"/>
            <a:ext cx="7380600" cy="240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708090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</a:t>
            </a:r>
            <a:endParaRPr sz="1600">
              <a:solidFill>
                <a:srgbClr val="70809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990055"/>
                </a:solidFill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en-US" sz="16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990055"/>
                </a:solidFill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en-US" sz="16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990055"/>
                </a:solidFill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lang="en-US" sz="16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My First Heading</a:t>
            </a:r>
            <a:r>
              <a:rPr lang="en-US" sz="16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990055"/>
                </a:solidFill>
                <a:latin typeface="Courier New"/>
                <a:ea typeface="Courier New"/>
                <a:cs typeface="Courier New"/>
                <a:sym typeface="Courier New"/>
              </a:rPr>
              <a:t>/h1</a:t>
            </a:r>
            <a:r>
              <a:rPr lang="en-US" sz="16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990055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16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My first paragraph.</a:t>
            </a:r>
            <a:r>
              <a:rPr lang="en-US" sz="16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990055"/>
                </a:solidFill>
                <a:latin typeface="Courier New"/>
                <a:ea typeface="Courier New"/>
                <a:cs typeface="Courier New"/>
                <a:sym typeface="Courier New"/>
              </a:rPr>
              <a:t>/p</a:t>
            </a:r>
            <a:r>
              <a:rPr lang="en-US" sz="16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990055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16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 href</a:t>
            </a:r>
            <a:r>
              <a:rPr lang="en-US" sz="16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="https://www.google.com"</a:t>
            </a:r>
            <a:r>
              <a:rPr lang="en-US" sz="16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 is a link</a:t>
            </a:r>
            <a:r>
              <a:rPr lang="en-US" sz="16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990055"/>
                </a:solidFill>
                <a:latin typeface="Courier New"/>
                <a:ea typeface="Courier New"/>
                <a:cs typeface="Courier New"/>
                <a:sym typeface="Courier New"/>
              </a:rPr>
              <a:t>/a</a:t>
            </a:r>
            <a:r>
              <a:rPr lang="en-US" sz="16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990055"/>
                </a:solidFill>
                <a:latin typeface="Courier New"/>
                <a:ea typeface="Courier New"/>
                <a:cs typeface="Courier New"/>
                <a:sym typeface="Courier New"/>
              </a:rPr>
              <a:t>/body</a:t>
            </a:r>
            <a:r>
              <a:rPr lang="en-US" sz="16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990055"/>
                </a:solidFill>
                <a:latin typeface="Courier New"/>
                <a:ea typeface="Courier New"/>
                <a:cs typeface="Courier New"/>
                <a:sym typeface="Courier New"/>
              </a:rPr>
              <a:t>/html</a:t>
            </a:r>
            <a:r>
              <a:rPr lang="en-US" sz="16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"/>
          <p:cNvSpPr/>
          <p:nvPr/>
        </p:nvSpPr>
        <p:spPr>
          <a:xfrm>
            <a:off x="640080" y="457200"/>
            <a:ext cx="2377440" cy="329184"/>
          </a:xfrm>
          <a:prstGeom prst="roundRect">
            <a:avLst>
              <a:gd fmla="val 138889" name="adj"/>
            </a:avLst>
          </a:prstGeom>
          <a:solidFill>
            <a:srgbClr val="161B22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1"/>
          <p:cNvSpPr txBox="1"/>
          <p:nvPr/>
        </p:nvSpPr>
        <p:spPr>
          <a:xfrm>
            <a:off x="640080" y="45720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HTML &amp; THE WEB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10332720" y="4572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0363D"/>
                </a:solidFill>
                <a:latin typeface="Cambria"/>
                <a:ea typeface="Cambria"/>
                <a:cs typeface="Cambria"/>
                <a:sym typeface="Cambria"/>
              </a:rPr>
              <a:t>10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 txBox="1"/>
          <p:nvPr/>
        </p:nvSpPr>
        <p:spPr>
          <a:xfrm>
            <a:off x="640080" y="9601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HTML Tree Traversal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640080" y="1874520"/>
            <a:ext cx="1005840" cy="45720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"/>
          <p:cNvSpPr txBox="1"/>
          <p:nvPr/>
        </p:nvSpPr>
        <p:spPr>
          <a:xfrm>
            <a:off x="685800" y="2194560"/>
            <a:ext cx="10332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HTML nests inside itself: parent, child, and sibling relationships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 parser turns this into a tree you can walk in code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Understanding the tree is the key to navigating to any element you want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10 / 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8235" y="3629735"/>
            <a:ext cx="7462175" cy="272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"/>
          <p:cNvSpPr/>
          <p:nvPr/>
        </p:nvSpPr>
        <p:spPr>
          <a:xfrm>
            <a:off x="640080" y="457200"/>
            <a:ext cx="2377440" cy="329184"/>
          </a:xfrm>
          <a:prstGeom prst="roundRect">
            <a:avLst>
              <a:gd fmla="val 138889" name="adj"/>
            </a:avLst>
          </a:prstGeom>
          <a:solidFill>
            <a:srgbClr val="161B22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2"/>
          <p:cNvSpPr txBox="1"/>
          <p:nvPr/>
        </p:nvSpPr>
        <p:spPr>
          <a:xfrm>
            <a:off x="640080" y="45720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HTML &amp; THE WEB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2"/>
          <p:cNvSpPr txBox="1"/>
          <p:nvPr/>
        </p:nvSpPr>
        <p:spPr>
          <a:xfrm>
            <a:off x="10332720" y="4572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0363D"/>
                </a:solidFill>
                <a:latin typeface="Cambria"/>
                <a:ea typeface="Cambria"/>
                <a:cs typeface="Cambria"/>
                <a:sym typeface="Cambria"/>
              </a:rPr>
              <a:t>11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2"/>
          <p:cNvSpPr txBox="1"/>
          <p:nvPr/>
        </p:nvSpPr>
        <p:spPr>
          <a:xfrm>
            <a:off x="640080" y="9601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Exploring HTML with Inspect &amp; View Page Source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2"/>
          <p:cNvSpPr/>
          <p:nvPr/>
        </p:nvSpPr>
        <p:spPr>
          <a:xfrm>
            <a:off x="640080" y="1874520"/>
            <a:ext cx="1005840" cy="45720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2"/>
          <p:cNvSpPr txBox="1"/>
          <p:nvPr/>
        </p:nvSpPr>
        <p:spPr>
          <a:xfrm>
            <a:off x="685800" y="2194560"/>
            <a:ext cx="10332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View Page Source: the raw HTML the server sent - what requests sees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Inspect Element: the live DOM after JavaScript ran - what your eyes see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Always confirm your target data exists in View Source before writing a scraper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11 / 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5500" y="3405775"/>
            <a:ext cx="5473325" cy="320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"/>
          <p:cNvSpPr/>
          <p:nvPr/>
        </p:nvSpPr>
        <p:spPr>
          <a:xfrm>
            <a:off x="640080" y="457200"/>
            <a:ext cx="2377440" cy="329184"/>
          </a:xfrm>
          <a:prstGeom prst="roundRect">
            <a:avLst>
              <a:gd fmla="val 138889" name="adj"/>
            </a:avLst>
          </a:prstGeom>
          <a:solidFill>
            <a:srgbClr val="161B22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3"/>
          <p:cNvSpPr txBox="1"/>
          <p:nvPr/>
        </p:nvSpPr>
        <p:spPr>
          <a:xfrm>
            <a:off x="640080" y="45720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HTML &amp; THE WEB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3"/>
          <p:cNvSpPr txBox="1"/>
          <p:nvPr/>
        </p:nvSpPr>
        <p:spPr>
          <a:xfrm>
            <a:off x="10332720" y="4572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0363D"/>
                </a:solidFill>
                <a:latin typeface="Cambria"/>
                <a:ea typeface="Cambria"/>
                <a:cs typeface="Cambria"/>
                <a:sym typeface="Cambria"/>
              </a:rPr>
              <a:t>12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 txBox="1"/>
          <p:nvPr/>
        </p:nvSpPr>
        <p:spPr>
          <a:xfrm>
            <a:off x="640080" y="9601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Web Scraping Legality &amp; robots.txt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640080" y="1874520"/>
            <a:ext cx="1005840" cy="45720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3"/>
          <p:cNvSpPr txBox="1"/>
          <p:nvPr/>
        </p:nvSpPr>
        <p:spPr>
          <a:xfrm>
            <a:off x="685800" y="2194560"/>
            <a:ext cx="10332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robots.txt states what a site's owner allows and disallows for bots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Respect rate limits; avoid scraping personal or private data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Read the Terms of Service, especially before scraping anything commercial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Legality varies by site and jurisdiction - when in doubt, check first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12 / 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3600" y="3879675"/>
            <a:ext cx="6617125" cy="261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22425" y="1920250"/>
            <a:ext cx="1524000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"/>
          <p:cNvSpPr/>
          <p:nvPr/>
        </p:nvSpPr>
        <p:spPr>
          <a:xfrm>
            <a:off x="640080" y="457200"/>
            <a:ext cx="2377440" cy="329184"/>
          </a:xfrm>
          <a:prstGeom prst="roundRect">
            <a:avLst>
              <a:gd fmla="val 138889" name="adj"/>
            </a:avLst>
          </a:prstGeom>
          <a:solidFill>
            <a:srgbClr val="161B22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4"/>
          <p:cNvSpPr txBox="1"/>
          <p:nvPr/>
        </p:nvSpPr>
        <p:spPr>
          <a:xfrm>
            <a:off x="640080" y="45720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HTML &amp; THE WEB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4"/>
          <p:cNvSpPr txBox="1"/>
          <p:nvPr/>
        </p:nvSpPr>
        <p:spPr>
          <a:xfrm>
            <a:off x="10332720" y="4572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0363D"/>
                </a:solidFill>
                <a:latin typeface="Cambria"/>
                <a:ea typeface="Cambria"/>
                <a:cs typeface="Cambria"/>
                <a:sym typeface="Cambria"/>
              </a:rPr>
              <a:t>13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4"/>
          <p:cNvSpPr txBox="1"/>
          <p:nvPr/>
        </p:nvSpPr>
        <p:spPr>
          <a:xfrm>
            <a:off x="640080" y="9601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APIs vs Web Scraping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640080" y="1874520"/>
            <a:ext cx="1005840" cy="45720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4"/>
          <p:cNvSpPr txBox="1"/>
          <p:nvPr/>
        </p:nvSpPr>
        <p:spPr>
          <a:xfrm>
            <a:off x="685800" y="2194560"/>
            <a:ext cx="10332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API: the site deliberately gives you structured data - use it when it exists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Scraping: extracting data from pages that weren't designed for that purpose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APIs are faster, more stable, and explicitly permitted - always check first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13 / 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1150" y="3546225"/>
            <a:ext cx="247650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78225" y="3546225"/>
            <a:ext cx="266700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"/>
          <p:cNvSpPr/>
          <p:nvPr/>
        </p:nvSpPr>
        <p:spPr>
          <a:xfrm>
            <a:off x="640080" y="457200"/>
            <a:ext cx="2377440" cy="329184"/>
          </a:xfrm>
          <a:prstGeom prst="roundRect">
            <a:avLst>
              <a:gd fmla="val 138889" name="adj"/>
            </a:avLst>
          </a:prstGeom>
          <a:solidFill>
            <a:srgbClr val="161B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5"/>
          <p:cNvSpPr txBox="1"/>
          <p:nvPr/>
        </p:nvSpPr>
        <p:spPr>
          <a:xfrm>
            <a:off x="640080" y="45720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29922"/>
                </a:solidFill>
                <a:latin typeface="Calibri"/>
                <a:ea typeface="Calibri"/>
                <a:cs typeface="Calibri"/>
                <a:sym typeface="Calibri"/>
              </a:rPr>
              <a:t>REQUESTS &amp; HTTP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5"/>
          <p:cNvSpPr txBox="1"/>
          <p:nvPr/>
        </p:nvSpPr>
        <p:spPr>
          <a:xfrm>
            <a:off x="10332720" y="4572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0363D"/>
                </a:solidFill>
                <a:latin typeface="Cambria"/>
                <a:ea typeface="Cambria"/>
                <a:cs typeface="Cambria"/>
                <a:sym typeface="Cambria"/>
              </a:rPr>
              <a:t>14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5"/>
          <p:cNvSpPr txBox="1"/>
          <p:nvPr/>
        </p:nvSpPr>
        <p:spPr>
          <a:xfrm>
            <a:off x="640080" y="9601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Installing Python Packages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5"/>
          <p:cNvSpPr/>
          <p:nvPr/>
        </p:nvSpPr>
        <p:spPr>
          <a:xfrm>
            <a:off x="640080" y="1874520"/>
            <a:ext cx="1005840" cy="45720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5"/>
          <p:cNvSpPr txBox="1"/>
          <p:nvPr/>
        </p:nvSpPr>
        <p:spPr>
          <a:xfrm>
            <a:off x="685800" y="2194560"/>
            <a:ext cx="10332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pip install requests beautifulsoup4 pandas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Virtual environments keep a project's dependencies isolated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requirements.txt records exact package versions for reproducibility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5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14 / 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"/>
          <p:cNvSpPr/>
          <p:nvPr/>
        </p:nvSpPr>
        <p:spPr>
          <a:xfrm>
            <a:off x="640080" y="457200"/>
            <a:ext cx="2377440" cy="329184"/>
          </a:xfrm>
          <a:prstGeom prst="roundRect">
            <a:avLst>
              <a:gd fmla="val 138889" name="adj"/>
            </a:avLst>
          </a:prstGeom>
          <a:solidFill>
            <a:srgbClr val="161B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6"/>
          <p:cNvSpPr txBox="1"/>
          <p:nvPr/>
        </p:nvSpPr>
        <p:spPr>
          <a:xfrm>
            <a:off x="640080" y="45720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29922"/>
                </a:solidFill>
                <a:latin typeface="Calibri"/>
                <a:ea typeface="Calibri"/>
                <a:cs typeface="Calibri"/>
                <a:sym typeface="Calibri"/>
              </a:rPr>
              <a:t>REQUESTS &amp; HTTP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6"/>
          <p:cNvSpPr txBox="1"/>
          <p:nvPr/>
        </p:nvSpPr>
        <p:spPr>
          <a:xfrm>
            <a:off x="10332720" y="4572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0363D"/>
                </a:solidFill>
                <a:latin typeface="Cambria"/>
                <a:ea typeface="Cambria"/>
                <a:cs typeface="Cambria"/>
                <a:sym typeface="Cambria"/>
              </a:rPr>
              <a:t>15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6"/>
          <p:cNvSpPr txBox="1"/>
          <p:nvPr/>
        </p:nvSpPr>
        <p:spPr>
          <a:xfrm>
            <a:off x="640080" y="9601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HTTP Requests with requests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6"/>
          <p:cNvSpPr/>
          <p:nvPr/>
        </p:nvSpPr>
        <p:spPr>
          <a:xfrm>
            <a:off x="640080" y="1874520"/>
            <a:ext cx="1005840" cy="45720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6"/>
          <p:cNvSpPr txBox="1"/>
          <p:nvPr/>
        </p:nvSpPr>
        <p:spPr>
          <a:xfrm>
            <a:off x="685800" y="2194560"/>
            <a:ext cx="1033272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requests.get(url) sends an HTTP request and returns a Response object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Handles the messy parts for you: headers, encoding, redirects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6"/>
          <p:cNvSpPr/>
          <p:nvPr/>
        </p:nvSpPr>
        <p:spPr>
          <a:xfrm>
            <a:off x="502930" y="3270160"/>
            <a:ext cx="10698600" cy="685800"/>
          </a:xfrm>
          <a:prstGeom prst="roundRect">
            <a:avLst>
              <a:gd fmla="val 8000" name="adj"/>
            </a:avLst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6"/>
          <p:cNvSpPr txBox="1"/>
          <p:nvPr/>
        </p:nvSpPr>
        <p:spPr>
          <a:xfrm>
            <a:off x="685800" y="3270160"/>
            <a:ext cx="10149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1450"/>
              <a:buFont typeface="Courier New"/>
              <a:buNone/>
            </a:pPr>
            <a:r>
              <a:rPr b="0" i="0" lang="en-US" sz="1450" u="none" cap="none" strike="noStrike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response = requests.get(url)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6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15 / 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5900" y="4117725"/>
            <a:ext cx="5052650" cy="237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7"/>
          <p:cNvSpPr/>
          <p:nvPr/>
        </p:nvSpPr>
        <p:spPr>
          <a:xfrm>
            <a:off x="640080" y="457200"/>
            <a:ext cx="2377440" cy="329184"/>
          </a:xfrm>
          <a:prstGeom prst="roundRect">
            <a:avLst>
              <a:gd fmla="val 138889" name="adj"/>
            </a:avLst>
          </a:prstGeom>
          <a:solidFill>
            <a:srgbClr val="161B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7"/>
          <p:cNvSpPr txBox="1"/>
          <p:nvPr/>
        </p:nvSpPr>
        <p:spPr>
          <a:xfrm>
            <a:off x="640080" y="45720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29922"/>
                </a:solidFill>
                <a:latin typeface="Calibri"/>
                <a:ea typeface="Calibri"/>
                <a:cs typeface="Calibri"/>
                <a:sym typeface="Calibri"/>
              </a:rPr>
              <a:t>REQUESTS &amp; HTTP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7"/>
          <p:cNvSpPr txBox="1"/>
          <p:nvPr/>
        </p:nvSpPr>
        <p:spPr>
          <a:xfrm>
            <a:off x="10332720" y="4572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0363D"/>
                </a:solidFill>
                <a:latin typeface="Cambria"/>
                <a:ea typeface="Cambria"/>
                <a:cs typeface="Cambria"/>
                <a:sym typeface="Cambria"/>
              </a:rPr>
              <a:t>16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7"/>
          <p:cNvSpPr txBox="1"/>
          <p:nvPr/>
        </p:nvSpPr>
        <p:spPr>
          <a:xfrm>
            <a:off x="640080" y="9601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HTTP GET Requests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7"/>
          <p:cNvSpPr/>
          <p:nvPr/>
        </p:nvSpPr>
        <p:spPr>
          <a:xfrm>
            <a:off x="640080" y="1874520"/>
            <a:ext cx="1005840" cy="45720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7"/>
          <p:cNvSpPr txBox="1"/>
          <p:nvPr/>
        </p:nvSpPr>
        <p:spPr>
          <a:xfrm>
            <a:off x="685800" y="2194560"/>
            <a:ext cx="10332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GET means "give me this page" - the method scraping uses almost exclusively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Other methods exist (POST, PUT, DELETE) - for submitting data, not typically for scraping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7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16 / 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6575" y="2939413"/>
            <a:ext cx="5105400" cy="355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8"/>
          <p:cNvSpPr/>
          <p:nvPr/>
        </p:nvSpPr>
        <p:spPr>
          <a:xfrm>
            <a:off x="640080" y="457200"/>
            <a:ext cx="2377440" cy="329184"/>
          </a:xfrm>
          <a:prstGeom prst="roundRect">
            <a:avLst>
              <a:gd fmla="val 138889" name="adj"/>
            </a:avLst>
          </a:prstGeom>
          <a:solidFill>
            <a:srgbClr val="161B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8"/>
          <p:cNvSpPr txBox="1"/>
          <p:nvPr/>
        </p:nvSpPr>
        <p:spPr>
          <a:xfrm>
            <a:off x="640080" y="45720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29922"/>
                </a:solidFill>
                <a:latin typeface="Calibri"/>
                <a:ea typeface="Calibri"/>
                <a:cs typeface="Calibri"/>
                <a:sym typeface="Calibri"/>
              </a:rPr>
              <a:t>REQUESTS &amp; HTTP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8"/>
          <p:cNvSpPr txBox="1"/>
          <p:nvPr/>
        </p:nvSpPr>
        <p:spPr>
          <a:xfrm>
            <a:off x="10332720" y="4572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0363D"/>
                </a:solidFill>
                <a:latin typeface="Cambria"/>
                <a:ea typeface="Cambria"/>
                <a:cs typeface="Cambria"/>
                <a:sym typeface="Cambria"/>
              </a:rPr>
              <a:t>17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8"/>
          <p:cNvSpPr txBox="1"/>
          <p:nvPr/>
        </p:nvSpPr>
        <p:spPr>
          <a:xfrm>
            <a:off x="640080" y="9601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HTTP Response &amp; Status Codes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8"/>
          <p:cNvSpPr/>
          <p:nvPr/>
        </p:nvSpPr>
        <p:spPr>
          <a:xfrm>
            <a:off x="640080" y="1874520"/>
            <a:ext cx="1005840" cy="45720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8"/>
          <p:cNvSpPr txBox="1"/>
          <p:nvPr/>
        </p:nvSpPr>
        <p:spPr>
          <a:xfrm>
            <a:off x="685800" y="2194560"/>
            <a:ext cx="10332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200 - request successful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300 - redirection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400 - client-side error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404 - page not found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500 - server-side error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Always check response.status_code before trusting the content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8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17 / 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9"/>
          <p:cNvSpPr/>
          <p:nvPr/>
        </p:nvSpPr>
        <p:spPr>
          <a:xfrm>
            <a:off x="640080" y="457200"/>
            <a:ext cx="2377440" cy="329184"/>
          </a:xfrm>
          <a:prstGeom prst="roundRect">
            <a:avLst>
              <a:gd fmla="val 138889" name="adj"/>
            </a:avLst>
          </a:prstGeom>
          <a:solidFill>
            <a:srgbClr val="161B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9"/>
          <p:cNvSpPr txBox="1"/>
          <p:nvPr/>
        </p:nvSpPr>
        <p:spPr>
          <a:xfrm>
            <a:off x="640080" y="45720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29922"/>
                </a:solidFill>
                <a:latin typeface="Calibri"/>
                <a:ea typeface="Calibri"/>
                <a:cs typeface="Calibri"/>
                <a:sym typeface="Calibri"/>
              </a:rPr>
              <a:t>REQUESTS &amp; HTTP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9"/>
          <p:cNvSpPr txBox="1"/>
          <p:nvPr/>
        </p:nvSpPr>
        <p:spPr>
          <a:xfrm>
            <a:off x="10332720" y="4572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0363D"/>
                </a:solidFill>
                <a:latin typeface="Cambria"/>
                <a:ea typeface="Cambria"/>
                <a:cs typeface="Cambria"/>
                <a:sym typeface="Cambria"/>
              </a:rPr>
              <a:t>18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9"/>
          <p:cNvSpPr txBox="1"/>
          <p:nvPr/>
        </p:nvSpPr>
        <p:spPr>
          <a:xfrm>
            <a:off x="640080" y="9601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Exploring Response Properties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9"/>
          <p:cNvSpPr/>
          <p:nvPr/>
        </p:nvSpPr>
        <p:spPr>
          <a:xfrm>
            <a:off x="640080" y="1874520"/>
            <a:ext cx="1005840" cy="45720"/>
          </a:xfrm>
          <a:prstGeom prst="rect">
            <a:avLst/>
          </a:prstGeom>
          <a:solidFill>
            <a:srgbClr val="D29922"/>
          </a:solidFill>
          <a:ln cap="flat" cmpd="sng" w="12700">
            <a:solidFill>
              <a:srgbClr val="D299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9"/>
          <p:cNvSpPr txBox="1"/>
          <p:nvPr/>
        </p:nvSpPr>
        <p:spPr>
          <a:xfrm>
            <a:off x="685800" y="2194560"/>
            <a:ext cx="10332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response.status_code, .text, .content, .headers, .url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.content is raw bytes; .text is requests' decoded string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18 / 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0863" y="3084003"/>
            <a:ext cx="5136901" cy="340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0"/>
          <p:cNvSpPr/>
          <p:nvPr/>
        </p:nvSpPr>
        <p:spPr>
          <a:xfrm>
            <a:off x="640080" y="457200"/>
            <a:ext cx="2377440" cy="329184"/>
          </a:xfrm>
          <a:prstGeom prst="roundRect">
            <a:avLst>
              <a:gd fmla="val 138889" name="adj"/>
            </a:avLst>
          </a:prstGeom>
          <a:solidFill>
            <a:srgbClr val="161B22"/>
          </a:solidFill>
          <a:ln cap="flat" cmpd="sng" w="12700">
            <a:solidFill>
              <a:srgbClr val="F778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0"/>
          <p:cNvSpPr txBox="1"/>
          <p:nvPr/>
        </p:nvSpPr>
        <p:spPr>
          <a:xfrm>
            <a:off x="640080" y="45720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78B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778BA"/>
                </a:solidFill>
                <a:latin typeface="Calibri"/>
                <a:ea typeface="Calibri"/>
                <a:cs typeface="Calibri"/>
                <a:sym typeface="Calibri"/>
              </a:rPr>
              <a:t>BEAUTIFULSOUP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0"/>
          <p:cNvSpPr txBox="1"/>
          <p:nvPr/>
        </p:nvSpPr>
        <p:spPr>
          <a:xfrm>
            <a:off x="10332720" y="4572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0363D"/>
                </a:solidFill>
                <a:latin typeface="Cambria"/>
                <a:ea typeface="Cambria"/>
                <a:cs typeface="Cambria"/>
                <a:sym typeface="Cambria"/>
              </a:rPr>
              <a:t>19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0"/>
          <p:cNvSpPr txBox="1"/>
          <p:nvPr/>
        </p:nvSpPr>
        <p:spPr>
          <a:xfrm>
            <a:off x="640080" y="9601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HTML Parsing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0"/>
          <p:cNvSpPr/>
          <p:nvPr/>
        </p:nvSpPr>
        <p:spPr>
          <a:xfrm>
            <a:off x="640080" y="1874520"/>
            <a:ext cx="1005840" cy="45720"/>
          </a:xfrm>
          <a:prstGeom prst="rect">
            <a:avLst/>
          </a:prstGeom>
          <a:solidFill>
            <a:srgbClr val="F778BA"/>
          </a:solidFill>
          <a:ln cap="flat" cmpd="sng" w="12700">
            <a:solidFill>
              <a:srgbClr val="F778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0"/>
          <p:cNvSpPr txBox="1"/>
          <p:nvPr/>
        </p:nvSpPr>
        <p:spPr>
          <a:xfrm>
            <a:off x="685800" y="2194560"/>
            <a:ext cx="103326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Raw HTML is just text until a parser structures it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Parsing builds a navigable tree of tags and text you can search in Python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0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19 / 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1" name="Google Shape;3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2350" y="3047309"/>
            <a:ext cx="2747600" cy="2813041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0"/>
          <p:cNvSpPr/>
          <p:nvPr/>
        </p:nvSpPr>
        <p:spPr>
          <a:xfrm>
            <a:off x="4572000" y="4189225"/>
            <a:ext cx="1714500" cy="529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3" name="Google Shape;30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08550" y="3025684"/>
            <a:ext cx="3158704" cy="285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1"/>
          <p:cNvSpPr/>
          <p:nvPr/>
        </p:nvSpPr>
        <p:spPr>
          <a:xfrm>
            <a:off x="640080" y="457200"/>
            <a:ext cx="2377440" cy="329184"/>
          </a:xfrm>
          <a:prstGeom prst="roundRect">
            <a:avLst>
              <a:gd fmla="val 138889" name="adj"/>
            </a:avLst>
          </a:prstGeom>
          <a:solidFill>
            <a:srgbClr val="161B22"/>
          </a:solidFill>
          <a:ln cap="flat" cmpd="sng" w="12700">
            <a:solidFill>
              <a:srgbClr val="F778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1"/>
          <p:cNvSpPr txBox="1"/>
          <p:nvPr/>
        </p:nvSpPr>
        <p:spPr>
          <a:xfrm>
            <a:off x="640080" y="45720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78B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778BA"/>
                </a:solidFill>
                <a:latin typeface="Calibri"/>
                <a:ea typeface="Calibri"/>
                <a:cs typeface="Calibri"/>
                <a:sym typeface="Calibri"/>
              </a:rPr>
              <a:t>BEAUTIFULSOUP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10332720" y="4572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0363D"/>
                </a:solidFill>
                <a:latin typeface="Cambria"/>
                <a:ea typeface="Cambria"/>
                <a:cs typeface="Cambria"/>
                <a:sym typeface="Cambria"/>
              </a:rPr>
              <a:t>20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640080" y="9601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Introduction to BeautifulSoup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1"/>
          <p:cNvSpPr/>
          <p:nvPr/>
        </p:nvSpPr>
        <p:spPr>
          <a:xfrm>
            <a:off x="640080" y="1874520"/>
            <a:ext cx="1005840" cy="45720"/>
          </a:xfrm>
          <a:prstGeom prst="rect">
            <a:avLst/>
          </a:prstGeom>
          <a:solidFill>
            <a:srgbClr val="F778BA"/>
          </a:solidFill>
          <a:ln cap="flat" cmpd="sng" w="12700">
            <a:solidFill>
              <a:srgbClr val="F778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1"/>
          <p:cNvSpPr txBox="1"/>
          <p:nvPr/>
        </p:nvSpPr>
        <p:spPr>
          <a:xfrm>
            <a:off x="685800" y="2194560"/>
            <a:ext cx="1033272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 Python library for parsing and searching HTML/XML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Turns response.content into a queryable "soup" object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1"/>
          <p:cNvSpPr/>
          <p:nvPr/>
        </p:nvSpPr>
        <p:spPr>
          <a:xfrm>
            <a:off x="640080" y="5394960"/>
            <a:ext cx="10698480" cy="685800"/>
          </a:xfrm>
          <a:prstGeom prst="roundRect">
            <a:avLst>
              <a:gd fmla="val 8000" name="adj"/>
            </a:avLst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1"/>
          <p:cNvSpPr txBox="1"/>
          <p:nvPr/>
        </p:nvSpPr>
        <p:spPr>
          <a:xfrm>
            <a:off x="914400" y="5394960"/>
            <a:ext cx="10149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353"/>
              </a:buClr>
              <a:buSzPts val="1450"/>
              <a:buFont typeface="Courier New"/>
              <a:buNone/>
            </a:pPr>
            <a:r>
              <a:rPr b="0" i="0" lang="en-US" sz="1450" u="none" cap="none" strike="noStrike">
                <a:solidFill>
                  <a:srgbClr val="39D353"/>
                </a:solidFill>
                <a:latin typeface="Courier New"/>
                <a:ea typeface="Courier New"/>
                <a:cs typeface="Courier New"/>
                <a:sym typeface="Courier New"/>
              </a:rPr>
              <a:t>soup = BeautifulSoup(response.content, "html.parser")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1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20 / 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8" name="Google Shape;3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9875" y="2937500"/>
            <a:ext cx="4549150" cy="227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2"/>
          <p:cNvSpPr/>
          <p:nvPr/>
        </p:nvSpPr>
        <p:spPr>
          <a:xfrm>
            <a:off x="640080" y="457200"/>
            <a:ext cx="2377440" cy="329184"/>
          </a:xfrm>
          <a:prstGeom prst="roundRect">
            <a:avLst>
              <a:gd fmla="val 138889" name="adj"/>
            </a:avLst>
          </a:prstGeom>
          <a:solidFill>
            <a:srgbClr val="161B22"/>
          </a:solidFill>
          <a:ln cap="flat" cmpd="sng" w="12700">
            <a:solidFill>
              <a:srgbClr val="F778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2"/>
          <p:cNvSpPr txBox="1"/>
          <p:nvPr/>
        </p:nvSpPr>
        <p:spPr>
          <a:xfrm>
            <a:off x="640080" y="45720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78B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778BA"/>
                </a:solidFill>
                <a:latin typeface="Calibri"/>
                <a:ea typeface="Calibri"/>
                <a:cs typeface="Calibri"/>
                <a:sym typeface="Calibri"/>
              </a:rPr>
              <a:t>BEAUTIFULSOUP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2"/>
          <p:cNvSpPr txBox="1"/>
          <p:nvPr/>
        </p:nvSpPr>
        <p:spPr>
          <a:xfrm>
            <a:off x="10332720" y="4572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0363D"/>
                </a:solidFill>
                <a:latin typeface="Cambria"/>
                <a:ea typeface="Cambria"/>
                <a:cs typeface="Cambria"/>
                <a:sym typeface="Cambria"/>
              </a:rPr>
              <a:t>21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2"/>
          <p:cNvSpPr txBox="1"/>
          <p:nvPr/>
        </p:nvSpPr>
        <p:spPr>
          <a:xfrm>
            <a:off x="640080" y="9601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BeautifulSoup Objects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2"/>
          <p:cNvSpPr/>
          <p:nvPr/>
        </p:nvSpPr>
        <p:spPr>
          <a:xfrm>
            <a:off x="640080" y="1874520"/>
            <a:ext cx="1005840" cy="45720"/>
          </a:xfrm>
          <a:prstGeom prst="rect">
            <a:avLst/>
          </a:prstGeom>
          <a:solidFill>
            <a:srgbClr val="F778BA"/>
          </a:solidFill>
          <a:ln cap="flat" cmpd="sng" w="12700">
            <a:solidFill>
              <a:srgbClr val="F778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2"/>
          <p:cNvSpPr txBox="1"/>
          <p:nvPr/>
        </p:nvSpPr>
        <p:spPr>
          <a:xfrm>
            <a:off x="685800" y="2194560"/>
            <a:ext cx="10332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Tag - an HTML element: a name, attributes, and children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NavigableString - the text inside a tag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BeautifulSoup - the top-level parsed document itself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2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21 / 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2"/>
          <p:cNvSpPr txBox="1"/>
          <p:nvPr/>
        </p:nvSpPr>
        <p:spPr>
          <a:xfrm>
            <a:off x="0" y="0"/>
            <a:ext cx="30000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from bs4 import BeautifulSoup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soup = BeautifulSoup(response.text, 'html.parser')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print(soup.prettify())  # prints well-formatted HTML</a:t>
            </a:r>
            <a:endParaRPr/>
          </a:p>
        </p:txBody>
      </p:sp>
      <p:sp>
        <p:nvSpPr>
          <p:cNvPr id="332" name="Google Shape;332;p22"/>
          <p:cNvSpPr txBox="1"/>
          <p:nvPr/>
        </p:nvSpPr>
        <p:spPr>
          <a:xfrm>
            <a:off x="3444513" y="3845175"/>
            <a:ext cx="4815300" cy="166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from bs4 import BeautifulSoup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soup = BeautifulSoup(response.text, 'html.parser')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print(soup.prettify())  # prints well-formatted HTML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3"/>
          <p:cNvSpPr/>
          <p:nvPr/>
        </p:nvSpPr>
        <p:spPr>
          <a:xfrm>
            <a:off x="640080" y="457200"/>
            <a:ext cx="2377440" cy="329184"/>
          </a:xfrm>
          <a:prstGeom prst="roundRect">
            <a:avLst>
              <a:gd fmla="val 138889" name="adj"/>
            </a:avLst>
          </a:prstGeom>
          <a:solidFill>
            <a:srgbClr val="161B22"/>
          </a:solidFill>
          <a:ln cap="flat" cmpd="sng" w="12700">
            <a:solidFill>
              <a:srgbClr val="F778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3"/>
          <p:cNvSpPr txBox="1"/>
          <p:nvPr/>
        </p:nvSpPr>
        <p:spPr>
          <a:xfrm>
            <a:off x="640080" y="45720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78B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778BA"/>
                </a:solidFill>
                <a:latin typeface="Calibri"/>
                <a:ea typeface="Calibri"/>
                <a:cs typeface="Calibri"/>
                <a:sym typeface="Calibri"/>
              </a:rPr>
              <a:t>BEAUTIFULSOUP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3"/>
          <p:cNvSpPr txBox="1"/>
          <p:nvPr/>
        </p:nvSpPr>
        <p:spPr>
          <a:xfrm>
            <a:off x="10332720" y="4572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0363D"/>
                </a:solidFill>
                <a:latin typeface="Cambria"/>
                <a:ea typeface="Cambria"/>
                <a:cs typeface="Cambria"/>
                <a:sym typeface="Cambria"/>
              </a:rPr>
              <a:t>22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3"/>
          <p:cNvSpPr txBox="1"/>
          <p:nvPr/>
        </p:nvSpPr>
        <p:spPr>
          <a:xfrm>
            <a:off x="640080" y="9601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HTML Parsers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3"/>
          <p:cNvSpPr/>
          <p:nvPr/>
        </p:nvSpPr>
        <p:spPr>
          <a:xfrm>
            <a:off x="640080" y="1874520"/>
            <a:ext cx="1005840" cy="45720"/>
          </a:xfrm>
          <a:prstGeom prst="rect">
            <a:avLst/>
          </a:prstGeom>
          <a:solidFill>
            <a:srgbClr val="F778BA"/>
          </a:solidFill>
          <a:ln cap="flat" cmpd="sng" w="12700">
            <a:solidFill>
              <a:srgbClr val="F778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3"/>
          <p:cNvSpPr txBox="1"/>
          <p:nvPr/>
        </p:nvSpPr>
        <p:spPr>
          <a:xfrm>
            <a:off x="685800" y="2194560"/>
            <a:ext cx="10332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html.parser - built into Python, no install needed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lxml - fast, needs a separate install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html5lib - most lenient with broken HTML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xml - for XML documents specifically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3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22 / 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5" name="Google Shape;34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0725" y="4000475"/>
            <a:ext cx="2227400" cy="222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1525" y="4036388"/>
            <a:ext cx="2155575" cy="215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02050" y="4036387"/>
            <a:ext cx="2377450" cy="215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4"/>
          <p:cNvSpPr/>
          <p:nvPr/>
        </p:nvSpPr>
        <p:spPr>
          <a:xfrm>
            <a:off x="640080" y="457200"/>
            <a:ext cx="2377440" cy="329184"/>
          </a:xfrm>
          <a:prstGeom prst="roundRect">
            <a:avLst>
              <a:gd fmla="val 138889" name="adj"/>
            </a:avLst>
          </a:prstGeom>
          <a:solidFill>
            <a:srgbClr val="161B22"/>
          </a:solidFill>
          <a:ln cap="flat" cmpd="sng" w="12700">
            <a:solidFill>
              <a:srgbClr val="F778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4"/>
          <p:cNvSpPr txBox="1"/>
          <p:nvPr/>
        </p:nvSpPr>
        <p:spPr>
          <a:xfrm>
            <a:off x="640080" y="45720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78B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778BA"/>
                </a:solidFill>
                <a:latin typeface="Calibri"/>
                <a:ea typeface="Calibri"/>
                <a:cs typeface="Calibri"/>
                <a:sym typeface="Calibri"/>
              </a:rPr>
              <a:t>BEAUTIFULSOUP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4"/>
          <p:cNvSpPr txBox="1"/>
          <p:nvPr/>
        </p:nvSpPr>
        <p:spPr>
          <a:xfrm>
            <a:off x="10332720" y="4572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0363D"/>
                </a:solidFill>
                <a:latin typeface="Cambria"/>
                <a:ea typeface="Cambria"/>
                <a:cs typeface="Cambria"/>
                <a:sym typeface="Cambria"/>
              </a:rPr>
              <a:t>23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4"/>
          <p:cNvSpPr txBox="1"/>
          <p:nvPr/>
        </p:nvSpPr>
        <p:spPr>
          <a:xfrm>
            <a:off x="640080" y="9601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prettify()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4"/>
          <p:cNvSpPr/>
          <p:nvPr/>
        </p:nvSpPr>
        <p:spPr>
          <a:xfrm>
            <a:off x="640080" y="1874520"/>
            <a:ext cx="1005840" cy="45720"/>
          </a:xfrm>
          <a:prstGeom prst="rect">
            <a:avLst/>
          </a:prstGeom>
          <a:solidFill>
            <a:srgbClr val="F778BA"/>
          </a:solidFill>
          <a:ln cap="flat" cmpd="sng" w="12700">
            <a:solidFill>
              <a:srgbClr val="F778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4"/>
          <p:cNvSpPr txBox="1"/>
          <p:nvPr/>
        </p:nvSpPr>
        <p:spPr>
          <a:xfrm>
            <a:off x="685800" y="2194560"/>
            <a:ext cx="10332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soup.prettify() formats HTML with proper indentation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Great for exploring a page's structure before writing selectors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4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23 / 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0" name="Google Shape;36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526" y="3648800"/>
            <a:ext cx="6453000" cy="135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6750" y="3135925"/>
            <a:ext cx="4128838" cy="2843449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4"/>
          <p:cNvSpPr/>
          <p:nvPr/>
        </p:nvSpPr>
        <p:spPr>
          <a:xfrm>
            <a:off x="7070443" y="4158340"/>
            <a:ext cx="314400" cy="27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5"/>
          <p:cNvSpPr/>
          <p:nvPr/>
        </p:nvSpPr>
        <p:spPr>
          <a:xfrm>
            <a:off x="640080" y="457200"/>
            <a:ext cx="2377440" cy="329184"/>
          </a:xfrm>
          <a:prstGeom prst="roundRect">
            <a:avLst>
              <a:gd fmla="val 138889" name="adj"/>
            </a:avLst>
          </a:prstGeom>
          <a:solidFill>
            <a:srgbClr val="161B22"/>
          </a:solidFill>
          <a:ln cap="flat" cmpd="sng" w="12700">
            <a:solidFill>
              <a:srgbClr val="F778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5"/>
          <p:cNvSpPr txBox="1"/>
          <p:nvPr/>
        </p:nvSpPr>
        <p:spPr>
          <a:xfrm>
            <a:off x="640080" y="45720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78B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778BA"/>
                </a:solidFill>
                <a:latin typeface="Calibri"/>
                <a:ea typeface="Calibri"/>
                <a:cs typeface="Calibri"/>
                <a:sym typeface="Calibri"/>
              </a:rPr>
              <a:t>BEAUTIFULSOUP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5"/>
          <p:cNvSpPr txBox="1"/>
          <p:nvPr/>
        </p:nvSpPr>
        <p:spPr>
          <a:xfrm>
            <a:off x="10332720" y="4572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0363D"/>
                </a:solidFill>
                <a:latin typeface="Cambria"/>
                <a:ea typeface="Cambria"/>
                <a:cs typeface="Cambria"/>
                <a:sym typeface="Cambria"/>
              </a:rPr>
              <a:t>24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5"/>
          <p:cNvSpPr txBox="1"/>
          <p:nvPr/>
        </p:nvSpPr>
        <p:spPr>
          <a:xfrm>
            <a:off x="640080" y="9601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Navigating HTML with BeautifulSoup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5"/>
          <p:cNvSpPr/>
          <p:nvPr/>
        </p:nvSpPr>
        <p:spPr>
          <a:xfrm>
            <a:off x="640080" y="1874520"/>
            <a:ext cx="1005840" cy="45720"/>
          </a:xfrm>
          <a:prstGeom prst="rect">
            <a:avLst/>
          </a:prstGeom>
          <a:solidFill>
            <a:srgbClr val="F778BA"/>
          </a:solidFill>
          <a:ln cap="flat" cmpd="sng" w="12700">
            <a:solidFill>
              <a:srgbClr val="F778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5"/>
          <p:cNvSpPr txBox="1"/>
          <p:nvPr/>
        </p:nvSpPr>
        <p:spPr>
          <a:xfrm>
            <a:off x="685800" y="2194560"/>
            <a:ext cx="10332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soup.title, soup.h1, soup.a - direct access to the first matching tag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.parent, .children, .next_sibling - moving around the tree manually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5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24 / 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6"/>
          <p:cNvSpPr/>
          <p:nvPr/>
        </p:nvSpPr>
        <p:spPr>
          <a:xfrm>
            <a:off x="640080" y="457200"/>
            <a:ext cx="2377440" cy="329184"/>
          </a:xfrm>
          <a:prstGeom prst="roundRect">
            <a:avLst>
              <a:gd fmla="val 138889" name="adj"/>
            </a:avLst>
          </a:prstGeom>
          <a:solidFill>
            <a:srgbClr val="161B22"/>
          </a:solidFill>
          <a:ln cap="flat" cmpd="sng" w="12700">
            <a:solidFill>
              <a:srgbClr val="F778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6"/>
          <p:cNvSpPr txBox="1"/>
          <p:nvPr/>
        </p:nvSpPr>
        <p:spPr>
          <a:xfrm>
            <a:off x="640080" y="45720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78B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778BA"/>
                </a:solidFill>
                <a:latin typeface="Calibri"/>
                <a:ea typeface="Calibri"/>
                <a:cs typeface="Calibri"/>
                <a:sym typeface="Calibri"/>
              </a:rPr>
              <a:t>BEAUTIFULSOUP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6"/>
          <p:cNvSpPr txBox="1"/>
          <p:nvPr/>
        </p:nvSpPr>
        <p:spPr>
          <a:xfrm>
            <a:off x="10332720" y="4572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0363D"/>
                </a:solidFill>
                <a:latin typeface="Cambria"/>
                <a:ea typeface="Cambria"/>
                <a:cs typeface="Cambria"/>
                <a:sym typeface="Cambria"/>
              </a:rPr>
              <a:t>25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6"/>
          <p:cNvSpPr txBox="1"/>
          <p:nvPr/>
        </p:nvSpPr>
        <p:spPr>
          <a:xfrm>
            <a:off x="640080" y="9601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find() and find_all()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6"/>
          <p:cNvSpPr/>
          <p:nvPr/>
        </p:nvSpPr>
        <p:spPr>
          <a:xfrm>
            <a:off x="640080" y="1874520"/>
            <a:ext cx="1005840" cy="45720"/>
          </a:xfrm>
          <a:prstGeom prst="rect">
            <a:avLst/>
          </a:prstGeom>
          <a:solidFill>
            <a:srgbClr val="F778BA"/>
          </a:solidFill>
          <a:ln cap="flat" cmpd="sng" w="12700">
            <a:solidFill>
              <a:srgbClr val="F778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6"/>
          <p:cNvSpPr txBox="1"/>
          <p:nvPr/>
        </p:nvSpPr>
        <p:spPr>
          <a:xfrm>
            <a:off x="685800" y="2194560"/>
            <a:ext cx="10332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find() - returns the first match, or None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find_all() - returns every match, as a list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6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25 / 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7" name="Google Shape;387;p26"/>
          <p:cNvPicPr preferRelativeResize="0"/>
          <p:nvPr/>
        </p:nvPicPr>
        <p:blipFill rotWithShape="1">
          <a:blip r:embed="rId3">
            <a:alphaModFix/>
          </a:blip>
          <a:srcRect b="24835" l="0" r="0" t="0"/>
          <a:stretch/>
        </p:blipFill>
        <p:spPr>
          <a:xfrm>
            <a:off x="156388" y="3008400"/>
            <a:ext cx="11879200" cy="100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/>
          <p:cNvPicPr preferRelativeResize="0"/>
          <p:nvPr/>
        </p:nvPicPr>
        <p:blipFill rotWithShape="1">
          <a:blip r:embed="rId4">
            <a:alphaModFix/>
          </a:blip>
          <a:srcRect b="0" l="0" r="4443" t="5473"/>
          <a:stretch/>
        </p:blipFill>
        <p:spPr>
          <a:xfrm>
            <a:off x="3193375" y="4170725"/>
            <a:ext cx="4125825" cy="247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7"/>
          <p:cNvSpPr/>
          <p:nvPr/>
        </p:nvSpPr>
        <p:spPr>
          <a:xfrm>
            <a:off x="640080" y="457200"/>
            <a:ext cx="2377440" cy="329184"/>
          </a:xfrm>
          <a:prstGeom prst="roundRect">
            <a:avLst>
              <a:gd fmla="val 138889" name="adj"/>
            </a:avLst>
          </a:prstGeom>
          <a:solidFill>
            <a:srgbClr val="161B22"/>
          </a:solidFill>
          <a:ln cap="flat" cmpd="sng" w="12700">
            <a:solidFill>
              <a:srgbClr val="F778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7"/>
          <p:cNvSpPr txBox="1"/>
          <p:nvPr/>
        </p:nvSpPr>
        <p:spPr>
          <a:xfrm>
            <a:off x="640080" y="45720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78B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778BA"/>
                </a:solidFill>
                <a:latin typeface="Calibri"/>
                <a:ea typeface="Calibri"/>
                <a:cs typeface="Calibri"/>
                <a:sym typeface="Calibri"/>
              </a:rPr>
              <a:t>BEAUTIFULSOUP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7"/>
          <p:cNvSpPr txBox="1"/>
          <p:nvPr/>
        </p:nvSpPr>
        <p:spPr>
          <a:xfrm>
            <a:off x="10332720" y="4572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0363D"/>
                </a:solidFill>
                <a:latin typeface="Cambria"/>
                <a:ea typeface="Cambria"/>
                <a:cs typeface="Cambria"/>
                <a:sym typeface="Cambria"/>
              </a:rPr>
              <a:t>26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7"/>
          <p:cNvSpPr txBox="1"/>
          <p:nvPr/>
        </p:nvSpPr>
        <p:spPr>
          <a:xfrm>
            <a:off x="640080" y="9601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Finding Elements by Class and ID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7"/>
          <p:cNvSpPr/>
          <p:nvPr/>
        </p:nvSpPr>
        <p:spPr>
          <a:xfrm>
            <a:off x="640080" y="1874520"/>
            <a:ext cx="1005840" cy="45720"/>
          </a:xfrm>
          <a:prstGeom prst="rect">
            <a:avLst/>
          </a:prstGeom>
          <a:solidFill>
            <a:srgbClr val="F778BA"/>
          </a:solidFill>
          <a:ln cap="flat" cmpd="sng" w="12700">
            <a:solidFill>
              <a:srgbClr val="F778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7"/>
          <p:cNvSpPr txBox="1"/>
          <p:nvPr/>
        </p:nvSpPr>
        <p:spPr>
          <a:xfrm>
            <a:off x="685800" y="2194560"/>
            <a:ext cx="10332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class_="..." - trailing underscore, since class is a reserved word in Python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id="..." - usually unique per page, so it's the most precise target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7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26 / 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1" name="Google Shape;40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4413" y="3008400"/>
            <a:ext cx="9829800" cy="316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8"/>
          <p:cNvSpPr/>
          <p:nvPr/>
        </p:nvSpPr>
        <p:spPr>
          <a:xfrm>
            <a:off x="640080" y="457200"/>
            <a:ext cx="2377440" cy="329184"/>
          </a:xfrm>
          <a:prstGeom prst="roundRect">
            <a:avLst>
              <a:gd fmla="val 138889" name="adj"/>
            </a:avLst>
          </a:prstGeom>
          <a:solidFill>
            <a:srgbClr val="161B22"/>
          </a:solidFill>
          <a:ln cap="flat" cmpd="sng" w="12700">
            <a:solidFill>
              <a:srgbClr val="F778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8"/>
          <p:cNvSpPr txBox="1"/>
          <p:nvPr/>
        </p:nvSpPr>
        <p:spPr>
          <a:xfrm>
            <a:off x="640080" y="45720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78B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778BA"/>
                </a:solidFill>
                <a:latin typeface="Calibri"/>
                <a:ea typeface="Calibri"/>
                <a:cs typeface="Calibri"/>
                <a:sym typeface="Calibri"/>
              </a:rPr>
              <a:t>BEAUTIFULSOUP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8"/>
          <p:cNvSpPr txBox="1"/>
          <p:nvPr/>
        </p:nvSpPr>
        <p:spPr>
          <a:xfrm>
            <a:off x="10332720" y="4572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0363D"/>
                </a:solidFill>
                <a:latin typeface="Cambria"/>
                <a:ea typeface="Cambria"/>
                <a:cs typeface="Cambria"/>
                <a:sym typeface="Cambria"/>
              </a:rPr>
              <a:t>27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8"/>
          <p:cNvSpPr txBox="1"/>
          <p:nvPr/>
        </p:nvSpPr>
        <p:spPr>
          <a:xfrm>
            <a:off x="640080" y="9601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Extracting Text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8"/>
          <p:cNvSpPr/>
          <p:nvPr/>
        </p:nvSpPr>
        <p:spPr>
          <a:xfrm>
            <a:off x="640080" y="1874520"/>
            <a:ext cx="1005840" cy="45720"/>
          </a:xfrm>
          <a:prstGeom prst="rect">
            <a:avLst/>
          </a:prstGeom>
          <a:solidFill>
            <a:srgbClr val="F778BA"/>
          </a:solidFill>
          <a:ln cap="flat" cmpd="sng" w="12700">
            <a:solidFill>
              <a:srgbClr val="F778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8"/>
          <p:cNvSpPr txBox="1"/>
          <p:nvPr/>
        </p:nvSpPr>
        <p:spPr>
          <a:xfrm>
            <a:off x="685800" y="2194560"/>
            <a:ext cx="10332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.get_text(strip=True) - clean text with whitespace trimmed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.stripped_strings - iterate clean text pieces out of a nested element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8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27 / 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4" name="Google Shape;41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7463" y="3391075"/>
            <a:ext cx="6629400" cy="211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9"/>
          <p:cNvSpPr/>
          <p:nvPr/>
        </p:nvSpPr>
        <p:spPr>
          <a:xfrm>
            <a:off x="640080" y="457200"/>
            <a:ext cx="2377440" cy="329184"/>
          </a:xfrm>
          <a:prstGeom prst="roundRect">
            <a:avLst>
              <a:gd fmla="val 138889" name="adj"/>
            </a:avLst>
          </a:prstGeom>
          <a:solidFill>
            <a:srgbClr val="161B22"/>
          </a:solidFill>
          <a:ln cap="flat" cmpd="sng" w="12700">
            <a:solidFill>
              <a:srgbClr val="F778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9"/>
          <p:cNvSpPr txBox="1"/>
          <p:nvPr/>
        </p:nvSpPr>
        <p:spPr>
          <a:xfrm>
            <a:off x="640080" y="45720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78B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778BA"/>
                </a:solidFill>
                <a:latin typeface="Calibri"/>
                <a:ea typeface="Calibri"/>
                <a:cs typeface="Calibri"/>
                <a:sym typeface="Calibri"/>
              </a:rPr>
              <a:t>BEAUTIFULSOUP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9"/>
          <p:cNvSpPr txBox="1"/>
          <p:nvPr/>
        </p:nvSpPr>
        <p:spPr>
          <a:xfrm>
            <a:off x="10332720" y="4572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0363D"/>
                </a:solidFill>
                <a:latin typeface="Cambria"/>
                <a:ea typeface="Cambria"/>
                <a:cs typeface="Cambria"/>
                <a:sym typeface="Cambria"/>
              </a:rPr>
              <a:t>28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9"/>
          <p:cNvSpPr txBox="1"/>
          <p:nvPr/>
        </p:nvSpPr>
        <p:spPr>
          <a:xfrm>
            <a:off x="640080" y="9601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Extracting Links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9"/>
          <p:cNvSpPr/>
          <p:nvPr/>
        </p:nvSpPr>
        <p:spPr>
          <a:xfrm>
            <a:off x="640080" y="1874520"/>
            <a:ext cx="1005840" cy="45720"/>
          </a:xfrm>
          <a:prstGeom prst="rect">
            <a:avLst/>
          </a:prstGeom>
          <a:solidFill>
            <a:srgbClr val="F778BA"/>
          </a:solidFill>
          <a:ln cap="flat" cmpd="sng" w="12700">
            <a:solidFill>
              <a:srgbClr val="F778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9"/>
          <p:cNvSpPr txBox="1"/>
          <p:nvPr/>
        </p:nvSpPr>
        <p:spPr>
          <a:xfrm>
            <a:off x="685800" y="2194560"/>
            <a:ext cx="10332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link.get("href") - the raw href attribute, often a relative path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urljoin(base_url, href) - converts a relative link into a full URL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9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28 / 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7" name="Google Shape;42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3988" y="3340925"/>
            <a:ext cx="8896350" cy="211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0"/>
          <p:cNvSpPr/>
          <p:nvPr/>
        </p:nvSpPr>
        <p:spPr>
          <a:xfrm>
            <a:off x="640080" y="457200"/>
            <a:ext cx="2377440" cy="329184"/>
          </a:xfrm>
          <a:prstGeom prst="roundRect">
            <a:avLst>
              <a:gd fmla="val 138889" name="adj"/>
            </a:avLst>
          </a:prstGeom>
          <a:solidFill>
            <a:srgbClr val="161B22"/>
          </a:solidFill>
          <a:ln cap="flat" cmpd="sng" w="12700">
            <a:solidFill>
              <a:srgbClr val="F778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0"/>
          <p:cNvSpPr txBox="1"/>
          <p:nvPr/>
        </p:nvSpPr>
        <p:spPr>
          <a:xfrm>
            <a:off x="640080" y="45720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78B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778BA"/>
                </a:solidFill>
                <a:latin typeface="Calibri"/>
                <a:ea typeface="Calibri"/>
                <a:cs typeface="Calibri"/>
                <a:sym typeface="Calibri"/>
              </a:rPr>
              <a:t>BEAUTIFULSOUP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0"/>
          <p:cNvSpPr txBox="1"/>
          <p:nvPr/>
        </p:nvSpPr>
        <p:spPr>
          <a:xfrm>
            <a:off x="10332720" y="4572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0363D"/>
                </a:solidFill>
                <a:latin typeface="Cambria"/>
                <a:ea typeface="Cambria"/>
                <a:cs typeface="Cambria"/>
                <a:sym typeface="Cambria"/>
              </a:rPr>
              <a:t>29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0"/>
          <p:cNvSpPr txBox="1"/>
          <p:nvPr/>
        </p:nvSpPr>
        <p:spPr>
          <a:xfrm>
            <a:off x="640080" y="9601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Scraping HTML Tables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0"/>
          <p:cNvSpPr/>
          <p:nvPr/>
        </p:nvSpPr>
        <p:spPr>
          <a:xfrm>
            <a:off x="640080" y="1874520"/>
            <a:ext cx="1005840" cy="45720"/>
          </a:xfrm>
          <a:prstGeom prst="rect">
            <a:avLst/>
          </a:prstGeom>
          <a:solidFill>
            <a:srgbClr val="F778BA"/>
          </a:solidFill>
          <a:ln cap="flat" cmpd="sng" w="12700">
            <a:solidFill>
              <a:srgbClr val="F778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0"/>
          <p:cNvSpPr txBox="1"/>
          <p:nvPr/>
        </p:nvSpPr>
        <p:spPr>
          <a:xfrm>
            <a:off x="685800" y="2194560"/>
            <a:ext cx="10332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find_all("table") for the tables, find_all("tr") for rows, find_all(["th","td"]) for cells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Watch for cells that hold a link or an image instead of plain text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0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29 / 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0" name="Google Shape;44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5550" y="3290800"/>
            <a:ext cx="7200900" cy="211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1"/>
          <p:cNvSpPr/>
          <p:nvPr/>
        </p:nvSpPr>
        <p:spPr>
          <a:xfrm>
            <a:off x="640080" y="457200"/>
            <a:ext cx="2377440" cy="329184"/>
          </a:xfrm>
          <a:prstGeom prst="roundRect">
            <a:avLst>
              <a:gd fmla="val 138889" name="adj"/>
            </a:avLst>
          </a:prstGeom>
          <a:solidFill>
            <a:srgbClr val="161B22"/>
          </a:solidFill>
          <a:ln cap="flat" cmpd="sng" w="12700">
            <a:solidFill>
              <a:srgbClr val="A37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1"/>
          <p:cNvSpPr txBox="1"/>
          <p:nvPr/>
        </p:nvSpPr>
        <p:spPr>
          <a:xfrm>
            <a:off x="640080" y="45720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71F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A371F7"/>
                </a:solidFill>
                <a:latin typeface="Calibri"/>
                <a:ea typeface="Calibri"/>
                <a:cs typeface="Calibri"/>
                <a:sym typeface="Calibri"/>
              </a:rPr>
              <a:t>PANDAS &amp; DATA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1"/>
          <p:cNvSpPr txBox="1"/>
          <p:nvPr/>
        </p:nvSpPr>
        <p:spPr>
          <a:xfrm>
            <a:off x="10332720" y="4572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0363D"/>
                </a:solidFill>
                <a:latin typeface="Cambria"/>
                <a:ea typeface="Cambria"/>
                <a:cs typeface="Cambria"/>
                <a:sym typeface="Cambria"/>
              </a:rPr>
              <a:t>30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1"/>
          <p:cNvSpPr txBox="1"/>
          <p:nvPr/>
        </p:nvSpPr>
        <p:spPr>
          <a:xfrm>
            <a:off x="640080" y="9601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Using Pandas for Web Scraping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1"/>
          <p:cNvSpPr/>
          <p:nvPr/>
        </p:nvSpPr>
        <p:spPr>
          <a:xfrm>
            <a:off x="640080" y="1874520"/>
            <a:ext cx="1005840" cy="45720"/>
          </a:xfrm>
          <a:prstGeom prst="rect">
            <a:avLst/>
          </a:prstGeom>
          <a:solidFill>
            <a:srgbClr val="A371F7"/>
          </a:solidFill>
          <a:ln cap="flat" cmpd="sng" w="12700">
            <a:solidFill>
              <a:srgbClr val="A37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31"/>
          <p:cNvSpPr txBox="1"/>
          <p:nvPr/>
        </p:nvSpPr>
        <p:spPr>
          <a:xfrm>
            <a:off x="685800" y="2194560"/>
            <a:ext cx="10332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pandas turns scraped lists and dicts into a structured table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Makes filtering, sorting, and analyzing scraped data straightforward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1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30 / 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3" name="Google Shape;45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9798" y="3175550"/>
            <a:ext cx="6413350" cy="320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2"/>
          <p:cNvSpPr/>
          <p:nvPr/>
        </p:nvSpPr>
        <p:spPr>
          <a:xfrm>
            <a:off x="640080" y="457200"/>
            <a:ext cx="2377440" cy="329184"/>
          </a:xfrm>
          <a:prstGeom prst="roundRect">
            <a:avLst>
              <a:gd fmla="val 138889" name="adj"/>
            </a:avLst>
          </a:prstGeom>
          <a:solidFill>
            <a:srgbClr val="161B22"/>
          </a:solidFill>
          <a:ln cap="flat" cmpd="sng" w="12700">
            <a:solidFill>
              <a:srgbClr val="A37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2"/>
          <p:cNvSpPr txBox="1"/>
          <p:nvPr/>
        </p:nvSpPr>
        <p:spPr>
          <a:xfrm>
            <a:off x="640080" y="45720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71F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A371F7"/>
                </a:solidFill>
                <a:latin typeface="Calibri"/>
                <a:ea typeface="Calibri"/>
                <a:cs typeface="Calibri"/>
                <a:sym typeface="Calibri"/>
              </a:rPr>
              <a:t>PANDAS &amp; DATA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2"/>
          <p:cNvSpPr txBox="1"/>
          <p:nvPr/>
        </p:nvSpPr>
        <p:spPr>
          <a:xfrm>
            <a:off x="10332720" y="4572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0363D"/>
                </a:solidFill>
                <a:latin typeface="Cambria"/>
                <a:ea typeface="Cambria"/>
                <a:cs typeface="Cambria"/>
                <a:sym typeface="Cambria"/>
              </a:rPr>
              <a:t>31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2"/>
          <p:cNvSpPr txBox="1"/>
          <p:nvPr/>
        </p:nvSpPr>
        <p:spPr>
          <a:xfrm>
            <a:off x="640080" y="9601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Creating DataFrames from Scraped Data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2"/>
          <p:cNvSpPr/>
          <p:nvPr/>
        </p:nvSpPr>
        <p:spPr>
          <a:xfrm>
            <a:off x="640080" y="1874520"/>
            <a:ext cx="1005840" cy="45720"/>
          </a:xfrm>
          <a:prstGeom prst="rect">
            <a:avLst/>
          </a:prstGeom>
          <a:solidFill>
            <a:srgbClr val="A371F7"/>
          </a:solidFill>
          <a:ln cap="flat" cmpd="sng" w="12700">
            <a:solidFill>
              <a:srgbClr val="A37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2"/>
          <p:cNvSpPr txBox="1"/>
          <p:nvPr/>
        </p:nvSpPr>
        <p:spPr>
          <a:xfrm>
            <a:off x="685800" y="2194560"/>
            <a:ext cx="10332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pd.DataFrame(data, columns=columns)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Column headers usually come straight from a table's &lt;th&gt; elements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2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31 / 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6" name="Google Shape;46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8025" y="3737600"/>
            <a:ext cx="7200900" cy="211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3"/>
          <p:cNvSpPr/>
          <p:nvPr/>
        </p:nvSpPr>
        <p:spPr>
          <a:xfrm>
            <a:off x="640080" y="457200"/>
            <a:ext cx="2377440" cy="329184"/>
          </a:xfrm>
          <a:prstGeom prst="roundRect">
            <a:avLst>
              <a:gd fmla="val 138889" name="adj"/>
            </a:avLst>
          </a:prstGeom>
          <a:solidFill>
            <a:srgbClr val="161B22"/>
          </a:solidFill>
          <a:ln cap="flat" cmpd="sng" w="12700">
            <a:solidFill>
              <a:srgbClr val="A37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3"/>
          <p:cNvSpPr txBox="1"/>
          <p:nvPr/>
        </p:nvSpPr>
        <p:spPr>
          <a:xfrm>
            <a:off x="640080" y="45720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71F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A371F7"/>
                </a:solidFill>
                <a:latin typeface="Calibri"/>
                <a:ea typeface="Calibri"/>
                <a:cs typeface="Calibri"/>
                <a:sym typeface="Calibri"/>
              </a:rPr>
              <a:t>PANDAS &amp; DATA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3"/>
          <p:cNvSpPr txBox="1"/>
          <p:nvPr/>
        </p:nvSpPr>
        <p:spPr>
          <a:xfrm>
            <a:off x="10332720" y="4572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0363D"/>
                </a:solidFill>
                <a:latin typeface="Cambria"/>
                <a:ea typeface="Cambria"/>
                <a:cs typeface="Cambria"/>
                <a:sym typeface="Cambria"/>
              </a:rPr>
              <a:t>32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3"/>
          <p:cNvSpPr txBox="1"/>
          <p:nvPr/>
        </p:nvSpPr>
        <p:spPr>
          <a:xfrm>
            <a:off x="640080" y="9601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Exporting Data to CSV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3"/>
          <p:cNvSpPr/>
          <p:nvPr/>
        </p:nvSpPr>
        <p:spPr>
          <a:xfrm>
            <a:off x="640080" y="1874520"/>
            <a:ext cx="1005840" cy="45720"/>
          </a:xfrm>
          <a:prstGeom prst="rect">
            <a:avLst/>
          </a:prstGeom>
          <a:solidFill>
            <a:srgbClr val="A371F7"/>
          </a:solidFill>
          <a:ln cap="flat" cmpd="sng" w="12700">
            <a:solidFill>
              <a:srgbClr val="A371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33"/>
          <p:cNvSpPr txBox="1"/>
          <p:nvPr/>
        </p:nvSpPr>
        <p:spPr>
          <a:xfrm>
            <a:off x="685800" y="2194560"/>
            <a:ext cx="10332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df.to_csv("file.csv", index=False)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index=False stops pandas from writing its own row-number column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33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32 / 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9" name="Google Shape;47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7725" y="1490575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150" y="3309525"/>
            <a:ext cx="11315700" cy="211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4"/>
          <p:cNvSpPr/>
          <p:nvPr/>
        </p:nvSpPr>
        <p:spPr>
          <a:xfrm>
            <a:off x="640080" y="457200"/>
            <a:ext cx="2377440" cy="329184"/>
          </a:xfrm>
          <a:prstGeom prst="roundRect">
            <a:avLst>
              <a:gd fmla="val 138889" name="adj"/>
            </a:avLst>
          </a:prstGeom>
          <a:solidFill>
            <a:srgbClr val="161B22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34"/>
          <p:cNvSpPr txBox="1"/>
          <p:nvPr/>
        </p:nvSpPr>
        <p:spPr>
          <a:xfrm>
            <a:off x="640080" y="45720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85149"/>
                </a:solidFill>
                <a:latin typeface="Calibri"/>
                <a:ea typeface="Calibri"/>
                <a:cs typeface="Calibri"/>
                <a:sym typeface="Calibri"/>
              </a:rPr>
              <a:t>SCALING UP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4"/>
          <p:cNvSpPr txBox="1"/>
          <p:nvPr/>
        </p:nvSpPr>
        <p:spPr>
          <a:xfrm>
            <a:off x="10332720" y="4572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0363D"/>
                </a:solidFill>
                <a:latin typeface="Cambria"/>
                <a:ea typeface="Cambria"/>
                <a:cs typeface="Cambria"/>
                <a:sym typeface="Cambria"/>
              </a:rPr>
              <a:t>33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4"/>
          <p:cNvSpPr txBox="1"/>
          <p:nvPr/>
        </p:nvSpPr>
        <p:spPr>
          <a:xfrm>
            <a:off x="640080" y="9601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Scraping Multiple Pages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4"/>
          <p:cNvSpPr/>
          <p:nvPr/>
        </p:nvSpPr>
        <p:spPr>
          <a:xfrm>
            <a:off x="640080" y="1874520"/>
            <a:ext cx="1005840" cy="45720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34"/>
          <p:cNvSpPr txBox="1"/>
          <p:nvPr/>
        </p:nvSpPr>
        <p:spPr>
          <a:xfrm>
            <a:off x="685800" y="2194560"/>
            <a:ext cx="10332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Pagination patterns: page numbers in the URL, "next" links, infinite scroll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urljoin() + a loop + a clear stopping condition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Always rate-limit between requests with time.sleep()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4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33 / 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3" name="Google Shape;49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6675" y="1874525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575" y="3693525"/>
            <a:ext cx="4163974" cy="130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2650" y="4024775"/>
            <a:ext cx="4298880" cy="246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5"/>
          <p:cNvSpPr/>
          <p:nvPr/>
        </p:nvSpPr>
        <p:spPr>
          <a:xfrm>
            <a:off x="640080" y="457200"/>
            <a:ext cx="2377440" cy="329184"/>
          </a:xfrm>
          <a:prstGeom prst="roundRect">
            <a:avLst>
              <a:gd fmla="val 138889" name="adj"/>
            </a:avLst>
          </a:prstGeom>
          <a:solidFill>
            <a:srgbClr val="161B22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5"/>
          <p:cNvSpPr txBox="1"/>
          <p:nvPr/>
        </p:nvSpPr>
        <p:spPr>
          <a:xfrm>
            <a:off x="640080" y="45720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85149"/>
                </a:solidFill>
                <a:latin typeface="Calibri"/>
                <a:ea typeface="Calibri"/>
                <a:cs typeface="Calibri"/>
                <a:sym typeface="Calibri"/>
              </a:rPr>
              <a:t>SCALING UP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35"/>
          <p:cNvSpPr txBox="1"/>
          <p:nvPr/>
        </p:nvSpPr>
        <p:spPr>
          <a:xfrm>
            <a:off x="10332720" y="4572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0363D"/>
                </a:solidFill>
                <a:latin typeface="Cambria"/>
                <a:ea typeface="Cambria"/>
                <a:cs typeface="Cambria"/>
                <a:sym typeface="Cambria"/>
              </a:rPr>
              <a:t>34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35"/>
          <p:cNvSpPr txBox="1"/>
          <p:nvPr/>
        </p:nvSpPr>
        <p:spPr>
          <a:xfrm>
            <a:off x="640080" y="9601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Common Web Scraping Challenges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5"/>
          <p:cNvSpPr/>
          <p:nvPr/>
        </p:nvSpPr>
        <p:spPr>
          <a:xfrm>
            <a:off x="640080" y="1874520"/>
            <a:ext cx="1005840" cy="45720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5"/>
          <p:cNvSpPr txBox="1"/>
          <p:nvPr/>
        </p:nvSpPr>
        <p:spPr>
          <a:xfrm>
            <a:off x="685800" y="2194560"/>
            <a:ext cx="10332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JavaScript-rendered content - needs Playwright/Selenium, not just requests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Anti-bot measures: CAPTCHAs, IP blocking, aggressive rate limiting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Site structure changes that silently break your selectors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Missing or inconsistent data - always code defensively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35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34 / 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6"/>
          <p:cNvSpPr/>
          <p:nvPr/>
        </p:nvSpPr>
        <p:spPr>
          <a:xfrm>
            <a:off x="640080" y="457200"/>
            <a:ext cx="2377440" cy="329184"/>
          </a:xfrm>
          <a:prstGeom prst="roundRect">
            <a:avLst>
              <a:gd fmla="val 138889" name="adj"/>
            </a:avLst>
          </a:prstGeom>
          <a:solidFill>
            <a:srgbClr val="161B22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36"/>
          <p:cNvSpPr txBox="1"/>
          <p:nvPr/>
        </p:nvSpPr>
        <p:spPr>
          <a:xfrm>
            <a:off x="640080" y="45720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85149"/>
                </a:solidFill>
                <a:latin typeface="Calibri"/>
                <a:ea typeface="Calibri"/>
                <a:cs typeface="Calibri"/>
                <a:sym typeface="Calibri"/>
              </a:rPr>
              <a:t>SCALING UP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6"/>
          <p:cNvSpPr txBox="1"/>
          <p:nvPr/>
        </p:nvSpPr>
        <p:spPr>
          <a:xfrm>
            <a:off x="10332720" y="4572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0363D"/>
                </a:solidFill>
                <a:latin typeface="Cambria"/>
                <a:ea typeface="Cambria"/>
                <a:cs typeface="Cambria"/>
                <a:sym typeface="Cambria"/>
              </a:rPr>
              <a:t>35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6"/>
          <p:cNvSpPr txBox="1"/>
          <p:nvPr/>
        </p:nvSpPr>
        <p:spPr>
          <a:xfrm>
            <a:off x="640080" y="9601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Mini Project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6"/>
          <p:cNvSpPr/>
          <p:nvPr/>
        </p:nvSpPr>
        <p:spPr>
          <a:xfrm>
            <a:off x="640080" y="1874520"/>
            <a:ext cx="1005840" cy="45720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6"/>
          <p:cNvSpPr txBox="1"/>
          <p:nvPr/>
        </p:nvSpPr>
        <p:spPr>
          <a:xfrm>
            <a:off x="685800" y="2194560"/>
            <a:ext cx="10332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C9D1D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6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35 / 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0" name="Google Shape;52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975" y="2194550"/>
            <a:ext cx="7761460" cy="3657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7"/>
          <p:cNvSpPr/>
          <p:nvPr/>
        </p:nvSpPr>
        <p:spPr>
          <a:xfrm>
            <a:off x="640080" y="457200"/>
            <a:ext cx="2377440" cy="329184"/>
          </a:xfrm>
          <a:prstGeom prst="roundRect">
            <a:avLst>
              <a:gd fmla="val 138889" name="adj"/>
            </a:avLst>
          </a:prstGeom>
          <a:solidFill>
            <a:srgbClr val="161B22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7"/>
          <p:cNvSpPr txBox="1"/>
          <p:nvPr/>
        </p:nvSpPr>
        <p:spPr>
          <a:xfrm>
            <a:off x="640080" y="45720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85149"/>
                </a:solidFill>
                <a:latin typeface="Calibri"/>
                <a:ea typeface="Calibri"/>
                <a:cs typeface="Calibri"/>
                <a:sym typeface="Calibri"/>
              </a:rPr>
              <a:t>SCALING UP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7"/>
          <p:cNvSpPr txBox="1"/>
          <p:nvPr/>
        </p:nvSpPr>
        <p:spPr>
          <a:xfrm>
            <a:off x="10332720" y="4572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0363D"/>
                </a:solidFill>
                <a:latin typeface="Cambria"/>
                <a:ea typeface="Cambria"/>
                <a:cs typeface="Cambria"/>
                <a:sym typeface="Cambria"/>
              </a:rPr>
              <a:t>36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37"/>
          <p:cNvSpPr txBox="1"/>
          <p:nvPr/>
        </p:nvSpPr>
        <p:spPr>
          <a:xfrm>
            <a:off x="640080" y="9601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Homework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7"/>
          <p:cNvSpPr/>
          <p:nvPr/>
        </p:nvSpPr>
        <p:spPr>
          <a:xfrm>
            <a:off x="640080" y="1874520"/>
            <a:ext cx="1005840" cy="45720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37"/>
          <p:cNvSpPr txBox="1"/>
          <p:nvPr/>
        </p:nvSpPr>
        <p:spPr>
          <a:xfrm>
            <a:off x="685800" y="2194560"/>
            <a:ext cx="10332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lang="en-US" sz="1700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Read </a:t>
            </a:r>
            <a:r>
              <a:rPr lang="en-US" sz="1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Homework.md</a:t>
            </a:r>
            <a:r>
              <a:rPr lang="en-US" sz="1700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file in </a:t>
            </a:r>
            <a:r>
              <a:rPr lang="en-US" sz="1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https://github.com/Arshiyakhias/python_workshop</a:t>
            </a:r>
            <a:r>
              <a:rPr lang="en-US" sz="1700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700">
              <a:solidFill>
                <a:srgbClr val="C9D1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Calibri"/>
              <a:buChar char="•"/>
            </a:pPr>
            <a:r>
              <a:rPr lang="en-US" sz="1700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Entire code showed in session can also be found in the above repo</a:t>
            </a:r>
            <a:endParaRPr sz="1700">
              <a:solidFill>
                <a:srgbClr val="C9D1D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7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36 / 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2026-09-26T08:14:07Z</dcterms:created>
  <dc:creator>PptxGenJS</dc:creator>
</cp:coreProperties>
</file>